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441cb6b3fc4c72" /><Relationship Type="http://schemas.openxmlformats.org/officeDocument/2006/relationships/extended-properties" Target="/docProps/app.xml" Id="Rb2dc8c69efa84fd1" /><Relationship Type="http://schemas.openxmlformats.org/officeDocument/2006/relationships/officeDocument" Target="/ppt/presentation.xml" Id="Rd06556993a7149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b71b21349a4f77"/>
  </p:sldMasterIdLst>
  <p:notesMasterIdLst>
    <p:notesMasterId xmlns:r="http://schemas.openxmlformats.org/officeDocument/2006/relationships" r:id="R5c57d41e56384054"/>
  </p:notesMasterIdLst>
  <p:sldIdLst>
    <p:sldId xmlns:r="http://schemas.openxmlformats.org/officeDocument/2006/relationships" id="256" r:id="R4a034585cd77402c"/>
    <p:sldId xmlns:r="http://schemas.openxmlformats.org/officeDocument/2006/relationships" id="257" r:id="Rd6f15879247a4e34"/>
    <p:sldId xmlns:r="http://schemas.openxmlformats.org/officeDocument/2006/relationships" id="258" r:id="R02398db1f3c84578"/>
    <p:sldId xmlns:r="http://schemas.openxmlformats.org/officeDocument/2006/relationships" id="259" r:id="R7c902c5073774f74"/>
    <p:sldId xmlns:r="http://schemas.openxmlformats.org/officeDocument/2006/relationships" id="260" r:id="Rc6a7cc1fc18f42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71b21349a4f77" /><Relationship Type="http://schemas.openxmlformats.org/officeDocument/2006/relationships/theme" Target="/ppt/theme/theme1.xml" Id="R517428c4c3f24266" /><Relationship Type="http://schemas.openxmlformats.org/officeDocument/2006/relationships/notesMaster" Target="/ppt/notesMasters/notesMaster1.xml" Id="R5c57d41e56384054" /><Relationship Type="http://schemas.openxmlformats.org/officeDocument/2006/relationships/presProps" Target="/ppt/presProps.xml" Id="Re9049225480f46e5" /><Relationship Type="http://schemas.openxmlformats.org/officeDocument/2006/relationships/viewProps" Target="/ppt/viewProps.xml" Id="R8548cbbf54b54fa1" /><Relationship Type="http://schemas.openxmlformats.org/officeDocument/2006/relationships/tableStyles" Target="/ppt/tableStyles.xml" Id="R4fed4232d0b14000" /><Relationship Type="http://schemas.openxmlformats.org/officeDocument/2006/relationships/slide" Target="/ppt/slides/slide1.xml" Id="R4a034585cd77402c" /><Relationship Type="http://schemas.openxmlformats.org/officeDocument/2006/relationships/slide" Target="/ppt/slides/slide2.xml" Id="Rd6f15879247a4e34" /><Relationship Type="http://schemas.openxmlformats.org/officeDocument/2006/relationships/slide" Target="/ppt/slides/slide3.xml" Id="R02398db1f3c84578" /><Relationship Type="http://schemas.openxmlformats.org/officeDocument/2006/relationships/slide" Target="/ppt/slides/slide4.xml" Id="R7c902c5073774f74" /><Relationship Type="http://schemas.openxmlformats.org/officeDocument/2006/relationships/slide" Target="/ppt/slides/slide5.xml" Id="Rc6a7cc1fc18f42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513cdb4104845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dfa2a4392f416c" /><Relationship Type="http://schemas.openxmlformats.org/officeDocument/2006/relationships/notesMaster" Target="/ppt/notesMasters/notesMaster1.xml" Id="R11583a7a297547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3f24e911ac4542" /><Relationship Type="http://schemas.openxmlformats.org/officeDocument/2006/relationships/notesMaster" Target="/ppt/notesMasters/notesMaster1.xml" Id="R6bf9f5e042054a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418d2c9c8749b9" /><Relationship Type="http://schemas.openxmlformats.org/officeDocument/2006/relationships/notesMaster" Target="/ppt/notesMasters/notesMaster1.xml" Id="Reccce0fd481c4e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c3fdf7365e4a19" /><Relationship Type="http://schemas.openxmlformats.org/officeDocument/2006/relationships/notesMaster" Target="/ppt/notesMasters/notesMaster1.xml" Id="Rd4b3eb27bee745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015fe81c814cfe" /><Relationship Type="http://schemas.openxmlformats.org/officeDocument/2006/relationships/notesMaster" Target="/ppt/notesMasters/notesMaster1.xml" Id="R9ed3f49d9cc840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8d551df4b412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5c9030c708b45cf" /><Relationship Type="http://schemas.openxmlformats.org/officeDocument/2006/relationships/slideLayout" Target="/ppt/slideLayouts/slideLayout2.xml" Id="R92311b4b48c942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311b4b48c942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22c8cf075b4f4c" /><Relationship Type="http://schemas.openxmlformats.org/officeDocument/2006/relationships/notesSlide" Target="/ppt/notesSlides/notesSlide1.xml" Id="R34b351b0a4444a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a8f44d90254a25" /><Relationship Type="http://schemas.openxmlformats.org/officeDocument/2006/relationships/notesSlide" Target="/ppt/notesSlides/notesSlide2.xml" Id="R4bc5008938f145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250d066d0849e7" /><Relationship Type="http://schemas.openxmlformats.org/officeDocument/2006/relationships/notesSlide" Target="/ppt/notesSlides/notesSlide3.xml" Id="Ra74931dd800244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7e0198399a40db" /><Relationship Type="http://schemas.openxmlformats.org/officeDocument/2006/relationships/notesSlide" Target="/ppt/notesSlides/notesSlide4.xml" Id="R3e7cb7055d8a4f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a63b5d13344f55" /><Relationship Type="http://schemas.openxmlformats.org/officeDocument/2006/relationships/notesSlide" Target="/ppt/notesSlides/notesSlide5.xml" Id="R58bb7a7b036b46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D49799-4CF6-4CD9-B0F1-735CBC7A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793C7-3E30-4ECF-A7A7-569B7FDF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EC8204  •  CONSENTCHAIN  •  EG/2021/4877 + EG/2021/4651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F2589-9087-468E-B0D1-7D97A28B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kicker-THE PROBLEM-marker">
            <a:extLst xmlns:a="http://schemas.openxmlformats.org/drawingml/2006/main">
              <a:ext uri="{FF2B5EF4-FFF2-40B4-BE49-F238E27FC236}">
                <a16:creationId xmlns:a16="http://schemas.microsoft.com/office/drawing/2014/main" id="{ADD83340-480E-469A-9DB6-1B4F473E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THE PROBLEM-label">
            <a:extLst xmlns:a="http://schemas.openxmlformats.org/drawingml/2006/main">
              <a:ext uri="{FF2B5EF4-FFF2-40B4-BE49-F238E27FC236}">
                <a16:creationId xmlns:a16="http://schemas.microsoft.com/office/drawing/2014/main" id="{A4A8EBF1-0442-4906-8EA4-A28A5453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54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9ABFE-9D58-466A-9684-05A2A6A6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524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 revoked consent should not depend on one database operator.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55749-4901-4100-B618-D7550E2D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ConsentChain gives patients a wallet-signed, independently verifiable way to grant — and withdraw — research permission.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B199D-D7C4-42AC-978F-C9C6475C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C4BC3-5932-466F-A5A2-A2C1DA59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A5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A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95CE3-228F-44C9-A59B-FDB5F917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Mutable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9A1BD-FE22-414F-ADBC-E208D6A7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Separate institutions may disagree on the latest consent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64378-5F5D-434D-BE17-FAFCB72C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A5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A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725CE-8587-42E4-B617-EB9892F8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576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Weak patient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76D7D-9BD1-447E-A39E-F1A03AC2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A patient must trust every operator to honor a withdrawal.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544D5-3D54-46EC-A04E-0937A8F0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A5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A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F5E60-8604-49D3-9B29-FFC794ED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576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Privacy trap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6C25A-3895-4F9E-84A2-060E9C25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Putting medical records on-chain would make the cure worse.</a:t>
            </a:r>
          </a:p>
        </p:txBody>
      </p:sp>
    </p:spTree>
    <p:extLst>
      <p:ext uri="{BB962C8B-B14F-4D97-AF65-F5344CB8AC3E}">
        <p14:creationId xmlns:p14="http://schemas.microsoft.com/office/powerpoint/2010/main" val="2002016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E9FB7-2FDF-4537-B053-42C39601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88DB1-C780-4B55-8564-EF6B3DA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BB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BB4"/>
                </a:solidFill>
                <a:latin typeface="Aptos"/>
                <a:ea typeface="Aptos"/>
                <a:cs typeface="Aptos"/>
              </a:rPr>
              <a:t>EC8204  •  CONSENTCHAIN  •  EG/2021/4877 + EG/2021/4651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3940D-6CC6-474F-B5BF-0B3CD83E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BB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SYSTEM DESIGN-marker">
            <a:extLst xmlns:a="http://schemas.openxmlformats.org/drawingml/2006/main">
              <a:ext uri="{FF2B5EF4-FFF2-40B4-BE49-F238E27FC236}">
                <a16:creationId xmlns:a16="http://schemas.microsoft.com/office/drawing/2014/main" id="{BCB2372E-97A0-4432-90C1-202603CF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SYSTEM DESIGN-label">
            <a:extLst xmlns:a="http://schemas.openxmlformats.org/drawingml/2006/main">
              <a:ext uri="{FF2B5EF4-FFF2-40B4-BE49-F238E27FC236}">
                <a16:creationId xmlns:a16="http://schemas.microsoft.com/office/drawing/2014/main" id="{57C89F86-128E-4AA2-9D8D-702CCA71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F36B"/>
                </a:solidFill>
                <a:latin typeface="Aptos"/>
                <a:ea typeface="Aptos"/>
                <a:cs typeface="Aptos"/>
              </a:rPr>
              <a:t>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C70C7-D3C5-4E82-A193-5074DDB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23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chain stores authorization state — never clinical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4B9DB-0978-4C0F-BCF0-C32653A7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21431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C387D-15D5-4106-B544-30B8AD5F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8002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Patient wallet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2E81D-F88B-413A-A7DC-D6C2B42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8002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signs grant / revoke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5410F-9157-4E5B-8DF7-70633A44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15362-55F4-4673-B29F-33E753E3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480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ConsentRegistry.sol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97275-F672-4CB5-B5D9-934BD7FF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expiry • status • audit 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53173-3D5B-4B68-BDFB-A59FF6D8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09875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7B083-25C3-4EAC-81D4-8FB27757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4800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Researcher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CA5E4-FA2D-44A7-9E0C-6440D032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4671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checks live validity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1C0CF-70B9-41C1-A185-1090B8E0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75EE9-48AE-4218-BE59-56A14B5F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480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Encrypted 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81E86-48B9-43A3-A9D6-980EBE91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holds actual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19FD7-5D0B-433D-9FA6-38BF6DB9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40042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3198C-4797-4A1F-8F76-67624D51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43250"/>
            <a:ext cx="44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8F36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8F36B"/>
                </a:solidFill>
                <a:latin typeface="Aptos"/>
                <a:ea typeface="Aptos"/>
                <a:cs typeface="Aptos"/>
              </a:rPr>
              <a:t>TX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B1A50-A1EA-4E5B-A34B-613B6EA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04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655F7-27AA-49F4-88DE-2CBE3FDB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8F36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8F36B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C4E6F-5C94-4ED4-A5DA-FBDF1E93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00425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B6521-41F7-4F15-B336-63C8745E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43250"/>
            <a:ext cx="295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8F36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8F36B"/>
                </a:solidFill>
                <a:latin typeface="Aptos"/>
                <a:ea typeface="Aptos"/>
                <a:cs typeface="Aptos"/>
              </a:rPr>
              <a:t>ALLOW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5CFBA-AA99-4B9B-9632-D68306DE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68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F31A40-FE76-4A58-9417-07B9D67D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038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ON-CHAIN  wallet addresses • salted hashes • timestamps • expiry • revocation     |     OFF-CHAIN  identity • records • study datasets</a:t>
            </a:r>
          </a:p>
        </p:txBody>
      </p:sp>
    </p:spTree>
    <p:extLst>
      <p:ext uri="{BB962C8B-B14F-4D97-AF65-F5344CB8AC3E}">
        <p14:creationId xmlns:p14="http://schemas.microsoft.com/office/powerpoint/2010/main" val="16605584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727A31-44C1-4A41-8448-196078C0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75F86-A7E4-49FD-92F2-C9BE048F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EC8204  •  CONSENTCHAIN  •  EG/2021/4877 + EG/2021/4651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AE2D2-17AC-4473-B6C7-B6651A51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kicker-PRODUCT PROOF-marker">
            <a:extLst xmlns:a="http://schemas.openxmlformats.org/drawingml/2006/main">
              <a:ext uri="{FF2B5EF4-FFF2-40B4-BE49-F238E27FC236}">
                <a16:creationId xmlns:a16="http://schemas.microsoft.com/office/drawing/2014/main" id="{BA019B3A-E241-4B4F-94FC-CFFB568C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PRODUCT PROOF-label">
            <a:extLst xmlns:a="http://schemas.openxmlformats.org/drawingml/2006/main">
              <a:ext uri="{FF2B5EF4-FFF2-40B4-BE49-F238E27FC236}">
                <a16:creationId xmlns:a16="http://schemas.microsoft.com/office/drawing/2014/main" id="{B4EBEFBA-ABB8-4EEE-A168-DECEF6DE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54"/>
                </a:solidFill>
                <a:latin typeface="Aptos"/>
                <a:ea typeface="Aptos"/>
                <a:cs typeface="Aptos"/>
              </a:rPr>
              <a:t>PRODUCT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BA31B-B0B1-47A8-870D-72917E8A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04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One patient wallet controls the full consent lifecycle.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5FCE0-17FE-4955-A32C-298F97FA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485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Browser hashes the local reference and purpose before MetaMask signs the transaction.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14EF6-FEF4-45EA-A988-35664CFD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4191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1  GRANT to approved researcher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7A30C-2881-4670-B8A7-6B097B8D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D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CF680-9FFA-4021-941D-186049B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4191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2  VERIFY active / expired / revoked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B8BAA-23CD-4B06-B32C-BB1695C3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D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527D9-C004-44B2-B984-662DC50D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4191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3B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83B43"/>
                </a:solidFill>
                <a:latin typeface="Aptos"/>
                <a:ea typeface="Aptos"/>
                <a:cs typeface="Aptos"/>
              </a:rPr>
              <a:t>3  REVOKE from the granting wallet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CF6E0-11C9-46FF-8AF9-062701DA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62000"/>
            <a:ext cx="528637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C9B79-0EC6-4664-B1AA-FD65E6CA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62000"/>
            <a:ext cx="5286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9AA76-2684-438F-AE0F-42C692B4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952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ConsentChain / Patient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F9150-FD20-42EC-9427-A07442F2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71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8F3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F36B"/>
                </a:solidFill>
                <a:latin typeface="Aptos"/>
                <a:ea typeface="Aptos"/>
                <a:cs typeface="Aptos"/>
              </a:rPr>
              <a:t>0x71A…2F90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667F3-D162-4349-8CCF-50F51359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19250"/>
            <a:ext cx="479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D4DB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E2C1D-AD16-460F-9FF4-05BAAA8B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452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Approved researcher  0x3C4…991A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08256-B06C-4F6B-9B79-8EE162D9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00275"/>
            <a:ext cx="479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D4DB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BA0D0-C4B2-4C66-A2AF-A8E8E3CA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452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Patient reference  ••••••••••••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F4B1E-65CF-4171-9159-022F4DC2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781300"/>
            <a:ext cx="479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D4DB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88771-E956-4CC4-9F3D-169443DA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452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Purpose  cardiovascular-study-v1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41FDF-2544-44B7-8C77-CB385C59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62325"/>
            <a:ext cx="479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D4DB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72FE79-8A29-4F24-8C68-751D714B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95675"/>
            <a:ext cx="452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Data category  Blood pressure observations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B897BF-A0D2-474A-AA18-FC462D84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43350"/>
            <a:ext cx="479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D4DB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CF3CD-CDCA-47B0-8BA0-2BB9565F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452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Duration  30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F7FA7A-C478-41B0-A235-56FF869F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714875"/>
            <a:ext cx="4791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4260EF-6ADE-40F6-88FD-EDCD3F69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76800"/>
            <a:ext cx="4791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 &amp; GRANT CONSENT</a:t>
            </a:r>
          </a:p>
        </p:txBody>
      </p:sp>
    </p:spTree>
    <p:extLst>
      <p:ext uri="{BB962C8B-B14F-4D97-AF65-F5344CB8AC3E}">
        <p14:creationId xmlns:p14="http://schemas.microsoft.com/office/powerpoint/2010/main" val="8985990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6CC615-EA3A-40CE-A690-04043E5B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F9B82-808F-4581-8E8D-0E2680B8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BB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BB4"/>
                </a:solidFill>
                <a:latin typeface="Aptos"/>
                <a:ea typeface="Aptos"/>
                <a:cs typeface="Aptos"/>
              </a:rPr>
              <a:t>EC8204  •  CONSENTCHAIN  •  EG/2021/4877 + EG/2021/4651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DDC84-1FB4-4314-8080-DFE4A447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BB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BB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SECURITY EVIDENCE-marker">
            <a:extLst xmlns:a="http://schemas.openxmlformats.org/drawingml/2006/main">
              <a:ext uri="{FF2B5EF4-FFF2-40B4-BE49-F238E27FC236}">
                <a16:creationId xmlns:a16="http://schemas.microsoft.com/office/drawing/2014/main" id="{9F92987D-67C2-4722-BA76-0DA328CD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SECURITY EVIDENCE-label">
            <a:extLst xmlns:a="http://schemas.openxmlformats.org/drawingml/2006/main">
              <a:ext uri="{FF2B5EF4-FFF2-40B4-BE49-F238E27FC236}">
                <a16:creationId xmlns:a16="http://schemas.microsoft.com/office/drawing/2014/main" id="{A17C7382-655E-4C7A-B8EE-5CD60E5B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F36B"/>
                </a:solidFill>
                <a:latin typeface="Aptos"/>
                <a:ea typeface="Aptos"/>
                <a:cs typeface="Aptos"/>
              </a:rPr>
              <a:t>SECURITY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FC701-F965-4918-BDA8-32FA0C2C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Six tests prove the contract rejects stale and unauthorized consent.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DD061-2B02-4AC2-8FF9-47502BCE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675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C8F36B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C8F36B"/>
                </a:solidFill>
                <a:latin typeface="Aptos"/>
                <a:ea typeface="Aptos"/>
                <a:cs typeface="Aptos"/>
              </a:rPr>
              <a:t>6 /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F0F2D-6A27-4298-967A-A018CAD3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57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BB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BB4"/>
                </a:solidFill>
                <a:latin typeface="Aptos"/>
                <a:ea typeface="Aptos"/>
                <a:cs typeface="Aptos"/>
              </a:rPr>
              <a:t>CONTRACT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23C39-348E-4F8E-B500-8DEB80B1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F3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F36B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9107F-D6D3-4C9E-BF7D-592366C7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F3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F36B"/>
                </a:solidFill>
                <a:latin typeface="Aptos"/>
                <a:ea typeface="Aptos"/>
                <a:cs typeface="Aptos"/>
              </a:rPr>
              <a:t>ENFORCED BEHAVIOR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91B9F-04CB-40BB-BFCB-3A95D382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F3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F36B"/>
                </a:solidFill>
                <a:latin typeface="Aptos"/>
                <a:ea typeface="Aptos"/>
                <a:cs typeface="Aptos"/>
              </a:rPr>
              <a:t>CONTRACT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F033E-105C-44A7-89D7-B73CA887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2E573-1505-4654-9FB0-61037E56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CDDAC-502D-43F9-ABBD-9DC19545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Only administrator can 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70366-F849-4478-BE1A-DDCDEFB5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rPr>
              <a:t>OnlyAdministrator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F00B7-7C7D-4896-9D60-7092E612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CBF89-4D55-4F0B-943A-13BFC718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480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34DA0-E438-4C24-825B-9E783C8D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48025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Researcher must be active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27D6A-9382-4251-96D0-57F42A1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480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rPr>
              <a:t>ResearcherNotActive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2730D-FA3D-4DD9-8398-0EE58712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AB854-1216-4925-AE83-FF0C1708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REVOKE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ED32D-5E93-4351-AB3A-636765D4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Only granting patient can revoke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08B71-53DB-4743-8E1B-A64528BF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71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rPr>
              <a:t>OnlyPatient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6566C-0B6B-4AF7-BE47-78988E3F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E4E000-EAEA-4086-8508-78E5E3AB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3CAB1-D054-42E0-B4BA-4CC8B176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Past expiry evaluates false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9FA20C-A8F1-4B13-84FB-9C069EB3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957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rPr>
              <a:t>expiresAt &gt; now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1464C-930D-4308-9396-C0AD97B0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29225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E3BD1-5A63-490C-8D6A-C417D94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AD05B-5F09-4AC7-A04B-8B63363B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Deactivated researcher invalidates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99E404-798F-45F5-8EC7-550E06E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rPr>
              <a:t>active == true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9998B9-80B5-4676-88A7-3B7B3C24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3B224C-D567-4DA8-B5B7-9847B3B4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435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6CDC02-F74A-471A-926A-755D5544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43525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files or medical records stored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C9A010-2715-40B3-9ED3-97E3F0AD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8F36B"/>
                </a:solidFill>
                <a:latin typeface="Aptos Mono"/>
                <a:ea typeface="Aptos Mono"/>
                <a:cs typeface="Aptos Mono"/>
              </a:rPr>
              <a:t>bytes32 hashes</a:t>
            </a:r>
          </a:p>
        </p:txBody>
      </p:sp>
    </p:spTree>
    <p:extLst>
      <p:ext uri="{BB962C8B-B14F-4D97-AF65-F5344CB8AC3E}">
        <p14:creationId xmlns:p14="http://schemas.microsoft.com/office/powerpoint/2010/main" val="404143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06640A-168A-4C01-A6CC-60C0C121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97BA2-63ED-49FF-B795-087440B7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EC8204  •  CONSENTCHAIN  •  EG/2021/4877 + EG/2021/4651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77AEA-6E75-462B-A949-39496384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kicker-LIVE DEMO-marker">
            <a:extLst xmlns:a="http://schemas.openxmlformats.org/drawingml/2006/main">
              <a:ext uri="{FF2B5EF4-FFF2-40B4-BE49-F238E27FC236}">
                <a16:creationId xmlns:a16="http://schemas.microsoft.com/office/drawing/2014/main" id="{B8F2A1B4-23BC-434B-A146-C5306223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IVE DEMO-label">
            <a:extLst xmlns:a="http://schemas.openxmlformats.org/drawingml/2006/main">
              <a:ext uri="{FF2B5EF4-FFF2-40B4-BE49-F238E27FC236}">
                <a16:creationId xmlns:a16="http://schemas.microsoft.com/office/drawing/2014/main" id="{00E080B8-96E9-45F8-B35F-F9B548F4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5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54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47552-73A5-4800-9365-0DF0D31B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Grant → verify → revoke → verify again in 60 seconds.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0A711-08A4-4927-A79B-6DBB7695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EEC0A-0BB9-4738-9A74-AA297B55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A5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6A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28D74-8AE5-466D-9EEA-30AF4E02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Connect patient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F5656-5553-4A0D-A7BE-CD3DAD4A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762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MetaMask • Hardhat 31337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60E9B-8224-4ED1-8D03-9E64790A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241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4F009-0F99-4C0F-9862-818F796D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A5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6A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6DEC8-725E-48BC-8413-34B0EF7A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62350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Grant consent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ABE48-2572-42A1-9583-E74BB8C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33850"/>
            <a:ext cx="1762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Purpose + category + 30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5D68E-83D3-4148-B484-D8ADAEF4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241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95B6D-47AC-4866-826E-4514582C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A5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6A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6892F-9358-4E17-B324-82F80F0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62350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Verify active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D5154-92C3-45C8-B8E8-28CDCED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33850"/>
            <a:ext cx="1762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Contract returns true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F46FB-49A7-4CD4-8701-152ACEA0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44E4D-AF65-4067-8B62-0AB878F3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A5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6A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29990-389A-4827-BECE-1210BBF3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Revoke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21FCD-DFD8-47FA-836F-407B73CB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33850"/>
            <a:ext cx="1762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Only patient wallet succeeds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22731-A38C-4AF1-A1B5-0174A0DD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BC462-B8B1-4DA8-B0CD-EBDC61A1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83B4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83B4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C98AA-93EA-402E-B17F-EEBF0E0A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62350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Verify invalid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C5B036-A48A-4FF5-A1A0-6F706645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33850"/>
            <a:ext cx="1762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6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66F"/>
                </a:solidFill>
                <a:latin typeface="Aptos"/>
                <a:ea typeface="Aptos"/>
                <a:cs typeface="Aptos"/>
              </a:rPr>
              <a:t>History remains immutable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44E5A6-DBB3-4BA7-A7AF-CA950F9F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1081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994CB5-0F60-44D0-8534-BCC17250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2575"/>
            <a:ext cx="1038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BLOCKCHAIN FOR SHARED TRUST — NOT FOR STORING PATIENT DATA</a:t>
            </a:r>
          </a:p>
        </p:txBody>
      </p:sp>
    </p:spTree>
    <p:extLst>
      <p:ext uri="{BB962C8B-B14F-4D97-AF65-F5344CB8AC3E}">
        <p14:creationId xmlns:p14="http://schemas.microsoft.com/office/powerpoint/2010/main" val="791417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2026-09-29T13:03:10.2560000Z</dcterms:created>
  <dcterms:modified xsi:type="dcterms:W3CDTF">2026-09-29T13:03:10.2570000Z</dcterms:modified>
</coreProperties>
</file>